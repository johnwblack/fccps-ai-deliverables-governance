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40" autoAdjust="0"/>
    <p:restoredTop sz="94660"/>
  </p:normalViewPr>
  <p:slideViewPr>
    <p:cSldViewPr snapToGrid="0">
      <p:cViewPr varScale="1">
        <p:scale>
          <a:sx n="97" d="100"/>
          <a:sy n="97" d="100"/>
        </p:scale>
        <p:origin x="31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6BCB1-9F19-A2B8-3DDE-93633ADE6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7716A9-19F5-D42D-C6F8-E296083077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620CB-558B-90BD-A9BE-0F6BACE49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46992-CB23-49C8-8114-A5507A1ABA0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5A5C5-0884-E0ED-214F-5D085F8ED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0BB81-26B0-1661-E5D9-E9DB5D838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755E4-12F5-4FA9-A3B2-9D3CA4F0B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798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28FCB-A654-79C5-228F-93A5FD262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51D57-FB00-759E-6E78-F287D1D92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32944-2F93-043F-D7E7-064BB5ABE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46992-CB23-49C8-8114-A5507A1ABA0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95C2A-4547-6CC5-F5CD-14525C62B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B6850-26D2-17D7-9F51-FC1B5EB6C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755E4-12F5-4FA9-A3B2-9D3CA4F0B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092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10CF5-BB49-0EA3-0E1F-C92A95B90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ED1DF-CD51-D1D4-E0B1-35D0B48C7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70E13-9BCD-A0CD-CB23-3B4BEAB49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46992-CB23-49C8-8114-A5507A1ABA0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B0D32-D11A-C5C4-9F5F-1D6A9F0DF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DE824-2BC9-CCD8-95C0-7A18C4419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755E4-12F5-4FA9-A3B2-9D3CA4F0B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3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F3D1B-DF1A-9479-531A-4B9D02482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9DED2-4574-E844-B94A-26305AEC80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82B0D8-665A-BD67-B143-9AFD1379E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BF253-5237-892B-9124-42B27BE8E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46992-CB23-49C8-8114-A5507A1ABA0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D37A46-9435-50C4-9A2E-23B544E64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548F2-ACB0-0A86-DA05-8F9F5518E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755E4-12F5-4FA9-A3B2-9D3CA4F0B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339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D5CE7-DAE5-953D-351C-D66AC48E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E42EA-A86E-F2BA-E726-DDE10BC7A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CDD354-59AF-EF2E-9D52-25DF511F0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00382F-E607-7F0E-F440-0BFB4BD4BD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92E7D7-DE0C-525F-D7EC-86D1BE4A3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F56C52-562F-A612-C3D7-6362A97ED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46992-CB23-49C8-8114-A5507A1ABA0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4C934-27FD-3D2C-3E47-28FCB1BCA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4C69D3-E3A7-29D3-F1C9-E7A8052EA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755E4-12F5-4FA9-A3B2-9D3CA4F0B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48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C826B-AFB0-E6C3-6C26-F76D77AC7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611065-3FFE-649C-BF3A-D2442679C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46992-CB23-49C8-8114-A5507A1ABA0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0CCF99-FF91-7D62-E1F1-2525CEC7D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69D952-E619-50B0-5436-3F54C35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755E4-12F5-4FA9-A3B2-9D3CA4F0B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09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8A0D0-46FC-9463-D0F8-8251866E6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46992-CB23-49C8-8114-A5507A1ABA0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A40469-728A-8BAD-10C4-2B439B22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CADA-8BE6-8B66-AB54-A6FF3667E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755E4-12F5-4FA9-A3B2-9D3CA4F0B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19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DD90B-B47C-2426-7075-B7C24B1EF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0A2B8-8490-F0C1-8466-143CC1743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C97F50-EB4B-2C06-77D3-2B1A7DB1E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64117-12AA-FB9C-21D7-231AF7DA3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46992-CB23-49C8-8114-A5507A1ABA0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E9BAB2-CBC6-A888-C6D1-6D1AD8D75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D4F0D-1457-89D0-82D4-A228DF75E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755E4-12F5-4FA9-A3B2-9D3CA4F0B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22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591A-85FC-A40D-C7F7-78FA4C222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AFE1EC-1BDC-BB30-6AE0-2887607BD3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0CD52-0E8D-4CB3-4A0D-F05818F9E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594FF-3DDE-5CD2-17C2-42EB0CB29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46992-CB23-49C8-8114-A5507A1ABA0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02808-A639-FFCD-2457-A397DF9AA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A7B3D-C0EA-1BC4-F903-6D807EC0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755E4-12F5-4FA9-A3B2-9D3CA4F0B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01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1CB8F-87AE-4596-BB0A-1A5287F10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5F9B66-1EF0-938D-E73A-08E2F0E23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0F1ED-957D-37B1-D0A2-D910B1BD2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46992-CB23-49C8-8114-A5507A1ABA0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0959F-58E1-DE0C-3BAF-4A517632D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74882-6057-B9DC-CE34-1B6E5B477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755E4-12F5-4FA9-A3B2-9D3CA4F0B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037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C4B29B-E460-4A9E-1267-04C389DE51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98EA2A-76C2-5CA9-D28C-40B2D32C38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1D22C-5B4B-D7FC-A94C-C3392FBC4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46992-CB23-49C8-8114-A5507A1ABA0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FF165-13A3-C4D9-3940-FE1A97A93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15209-EA66-1B73-5984-06A4DBE4F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755E4-12F5-4FA9-A3B2-9D3CA4F0B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845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A09D06-4E36-CA84-5CD8-57222CA8A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5B513-5B56-0311-4C79-61493D5BF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A1C29-5C7A-FB63-417C-D383D3190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46992-CB23-49C8-8114-A5507A1ABA0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B09F5-32C3-8C0D-79F3-6BD8495413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9D15B-F073-EB1D-E0E2-D9946B5613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C755E4-12F5-4FA9-A3B2-9D3CA4F0B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582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E19C55-A3DC-A8E5-558E-CDF834A96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SPRINT A — DEFINITIONS (Group-owned)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44139-03E6-D2E3-BDDF-1B4B174CA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1" dirty="0"/>
              <a:t>DEFINITIONS (plain language, 1 sentence)</a:t>
            </a:r>
            <a:br>
              <a:rPr lang="en-US" dirty="0"/>
            </a:br>
            <a:r>
              <a:rPr lang="en-US" b="1" dirty="0"/>
              <a:t>POST 1 GROUP STICKY UNDER YOUR TERM</a:t>
            </a:r>
            <a:endParaRPr lang="en-US" dirty="0"/>
          </a:p>
          <a:p>
            <a:pPr algn="l"/>
            <a:r>
              <a:rPr lang="en-US" b="1" dirty="0"/>
              <a:t>AI (general)</a:t>
            </a:r>
            <a:endParaRPr lang="en-US" dirty="0"/>
          </a:p>
          <a:p>
            <a:pPr algn="l"/>
            <a:r>
              <a:rPr lang="en-US" b="1" dirty="0"/>
              <a:t>GENERATIVE</a:t>
            </a:r>
            <a:endParaRPr lang="en-US" dirty="0"/>
          </a:p>
          <a:p>
            <a:pPr algn="l"/>
            <a:r>
              <a:rPr lang="en-US" b="1" dirty="0"/>
              <a:t>REASONING</a:t>
            </a:r>
            <a:endParaRPr lang="en-US" dirty="0"/>
          </a:p>
          <a:p>
            <a:pPr algn="l"/>
            <a:r>
              <a:rPr lang="en-US" b="1" dirty="0"/>
              <a:t>TOOL vs TUTOR</a:t>
            </a:r>
            <a:br>
              <a:rPr lang="en-US" dirty="0"/>
            </a:br>
            <a:r>
              <a:rPr lang="en-US" i="1" dirty="0"/>
              <a:t>(Optional if time: COPILOT vs AUTOPILOT)</a:t>
            </a:r>
            <a:endParaRPr lang="en-US" dirty="0"/>
          </a:p>
          <a:p>
            <a:pPr marL="0" indent="0" algn="l">
              <a:buNone/>
            </a:pPr>
            <a:endParaRPr lang="en-US" b="1" dirty="0"/>
          </a:p>
          <a:p>
            <a:pPr marL="0" indent="0" algn="l">
              <a:buNone/>
            </a:pPr>
            <a:r>
              <a:rPr lang="en-US" b="1" dirty="0">
                <a:solidFill>
                  <a:schemeClr val="accent1"/>
                </a:solidFill>
              </a:rPr>
              <a:t>Sticky rules:</a:t>
            </a:r>
            <a:r>
              <a:rPr lang="en-US" dirty="0">
                <a:solidFill>
                  <a:schemeClr val="accent1"/>
                </a:solidFill>
              </a:rPr>
              <a:t> 1 idea • PRINT BIG • plain language • v0.1 today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88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1F14B-5BE0-8111-0E04-80EF08241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SPRINT A — ASSUMPTIONS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12775-11BB-BCEE-98A4-23D842A24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ASSUMPTIONS WE ARE DESIGNING FOR (design constraints)</a:t>
            </a:r>
            <a:br>
              <a:rPr lang="en-US" dirty="0"/>
            </a:br>
            <a:r>
              <a:rPr lang="en-US" b="1" dirty="0"/>
              <a:t>POST 1 PER PERSON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Prompt: </a:t>
            </a:r>
            <a:r>
              <a:rPr lang="en-US" i="1" dirty="0"/>
              <a:t>“We must design for…”</a:t>
            </a:r>
            <a:br>
              <a:rPr lang="en-US" dirty="0"/>
            </a:br>
            <a:r>
              <a:rPr lang="en-US" dirty="0"/>
              <a:t>Examples: AI can be wrong/confident • tools vary • consumer vs district tools differ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Sticky rules:</a:t>
            </a:r>
            <a:r>
              <a:rPr lang="en-US" dirty="0">
                <a:solidFill>
                  <a:schemeClr val="accent1"/>
                </a:solidFill>
              </a:rPr>
              <a:t> 1 idea • PRINT BIG • plain language • v0.1 today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78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2824-CA22-14FB-AE8E-EE87E9E87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SPRINT B — MISCONCEPTIONS + VOTE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4DEE0-A20B-89DD-14FD-FDEEBD5E6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MISCONCEPTIONS TO KILL (write as a quote someone would say)</a:t>
            </a:r>
            <a:br>
              <a:rPr lang="en-US" dirty="0"/>
            </a:br>
            <a:r>
              <a:rPr lang="en-US" b="1" dirty="0"/>
              <a:t>POST 2 PER PERSON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“AI is just glorified search.”</a:t>
            </a:r>
          </a:p>
          <a:p>
            <a:r>
              <a:rPr lang="en-US" dirty="0"/>
              <a:t>“Detectors solve integrity.”</a:t>
            </a:r>
          </a:p>
          <a:p>
            <a:r>
              <a:rPr lang="en-US" dirty="0"/>
              <a:t>“AI is always right/wrong.”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DOT VOTE (2 dots): Most harmful if unaddressed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211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6CC62-5F33-C1E0-F62E-3C3416BC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SPRINT C1 — SCENARIO: STUDENT USE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49A2D-0194-5DE0-23BC-4F007F07E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CLASSROOM SCENARIO — STUDENT USE (learning)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Post as a group:</a:t>
            </a:r>
          </a:p>
          <a:p>
            <a:r>
              <a:rPr lang="en-US" b="1" dirty="0"/>
              <a:t>ALLOWED / BENEFICIAL (default OK):</a:t>
            </a:r>
          </a:p>
          <a:p>
            <a:r>
              <a:rPr lang="en-US" b="1" dirty="0"/>
              <a:t>CONSTRAINED / NOT ALLOWED BY DEFAULT:</a:t>
            </a:r>
          </a:p>
          <a:p>
            <a:r>
              <a:rPr lang="en-US" b="1" dirty="0"/>
              <a:t>GRADE-BAND DELTA (1 phrase):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155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FBC3E-EB76-A361-8B91-4948CCF37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SPRINT C2 — SCENARIO: TEACHER USE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E66DF-0B1E-1526-7A0F-B2B8D6A79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CLASSROOM SCENARIO — TEACHER USE (instructional + professional)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Post as a group:</a:t>
            </a:r>
          </a:p>
          <a:p>
            <a:r>
              <a:rPr lang="en-US" b="1" dirty="0"/>
              <a:t>ALLOWED / BENEFICIAL (default OK):</a:t>
            </a:r>
          </a:p>
          <a:p>
            <a:r>
              <a:rPr lang="en-US" b="1" dirty="0"/>
              <a:t>CONSTRAINED / NOT ALLOWED BY DEFAULT:</a:t>
            </a:r>
          </a:p>
          <a:p>
            <a:r>
              <a:rPr lang="en-US" b="1" dirty="0"/>
              <a:t>GRADE-BAND DELTA (1 phrase):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429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7A79B-4861-5271-A3B7-060D7DDE3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SPRINT C3 — SCENARIO: ASSESSMENT INTEGRITY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825FD-83ED-5D11-508A-09CA9B98F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CLASSROOM SCENARIO — ASSESSMENT INTEGRITY (quick triage)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Post as a group:</a:t>
            </a:r>
          </a:p>
          <a:p>
            <a:r>
              <a:rPr lang="en-US" b="1" dirty="0"/>
              <a:t>ALLOWED / BENEFICIAL (default OK):</a:t>
            </a:r>
          </a:p>
          <a:p>
            <a:r>
              <a:rPr lang="en-US" b="1" dirty="0"/>
              <a:t>CONSTRAINED / NOT ALLOWED BY DEFAULT:</a:t>
            </a:r>
          </a:p>
          <a:p>
            <a:r>
              <a:rPr lang="en-US" b="1" dirty="0"/>
              <a:t>GRADE-BAND DELTA (1 phrase):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129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12119-DC45-9044-96B5-AB7B4D87E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CONVERGE — GRADE BANDS (VOTE)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E3F4A-97CC-1C66-6A08-4B9B9C6B1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GRADE BAND STRUCTURE — VOTE (hands-up)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Choose the most workable starting point:</a:t>
            </a:r>
          </a:p>
          <a:p>
            <a:pPr marL="0" indent="0">
              <a:buNone/>
            </a:pPr>
            <a:r>
              <a:rPr lang="en-US" dirty="0"/>
              <a:t>☐ </a:t>
            </a:r>
            <a:r>
              <a:rPr lang="en-US" b="1" dirty="0"/>
              <a:t>Option A:</a:t>
            </a:r>
            <a:r>
              <a:rPr lang="en-US" dirty="0"/>
              <a:t> PK–2 / 3–5 / 6–8 / 9–12</a:t>
            </a:r>
            <a:br>
              <a:rPr lang="en-US" dirty="0"/>
            </a:br>
            <a:r>
              <a:rPr lang="en-US" dirty="0"/>
              <a:t>☐ </a:t>
            </a:r>
            <a:r>
              <a:rPr lang="en-US" b="1" dirty="0"/>
              <a:t>Option B:</a:t>
            </a:r>
            <a:r>
              <a:rPr lang="en-US" dirty="0"/>
              <a:t> K–2 / 3–4 / 5–6 / 7–8 / 9–12</a:t>
            </a:r>
            <a:br>
              <a:rPr lang="en-US" dirty="0"/>
            </a:br>
            <a:r>
              <a:rPr lang="en-US" dirty="0"/>
              <a:t>☐ </a:t>
            </a:r>
            <a:r>
              <a:rPr lang="en-US" b="1" dirty="0"/>
              <a:t>Option C:</a:t>
            </a:r>
            <a:r>
              <a:rPr lang="en-US" dirty="0"/>
              <a:t> Elementary / Middle / High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Optional:</a:t>
            </a:r>
            <a:r>
              <a:rPr lang="en-US" dirty="0">
                <a:solidFill>
                  <a:schemeClr val="accent1"/>
                </a:solidFill>
              </a:rPr>
              <a:t> Post 1 sticky: “Why this structure works.”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61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995DA-A243-2058-D34D-0CA2D756D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PARKING LOT (off to the side)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DCE13-D029-C3E1-9E8C-C543FE6A2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PARKING LOT (great topic, not now)</a:t>
            </a:r>
            <a:br>
              <a:rPr lang="en-US" dirty="0"/>
            </a:br>
            <a:r>
              <a:rPr lang="en-US" dirty="0"/>
              <a:t>If debate starts: write it here and move 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Prompt: </a:t>
            </a:r>
            <a:r>
              <a:rPr lang="en-US" i="1" dirty="0">
                <a:solidFill>
                  <a:schemeClr val="accent1"/>
                </a:solidFill>
              </a:rPr>
              <a:t>Issue / question / who should own it / when it’s needed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919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412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SPRINT A — DEFINITIONS (Group-owned)</vt:lpstr>
      <vt:lpstr>SPRINT A — ASSUMPTIONS</vt:lpstr>
      <vt:lpstr>SPRINT B — MISCONCEPTIONS + VOTE</vt:lpstr>
      <vt:lpstr>SPRINT C1 — SCENARIO: STUDENT USE</vt:lpstr>
      <vt:lpstr>SPRINT C2 — SCENARIO: TEACHER USE</vt:lpstr>
      <vt:lpstr>SPRINT C3 — SCENARIO: ASSESSMENT INTEGRITY</vt:lpstr>
      <vt:lpstr>CONVERGE — GRADE BANDS (VOTE)</vt:lpstr>
      <vt:lpstr>PARKING LOT (off to the side)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Black</dc:creator>
  <cp:lastModifiedBy>John Black</cp:lastModifiedBy>
  <cp:revision>1</cp:revision>
  <dcterms:created xsi:type="dcterms:W3CDTF">2026-02-06T12:46:58Z</dcterms:created>
  <dcterms:modified xsi:type="dcterms:W3CDTF">2026-02-06T12:56:32Z</dcterms:modified>
</cp:coreProperties>
</file>