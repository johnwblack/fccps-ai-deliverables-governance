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57" r:id="rId5"/>
    <p:sldId id="258" r:id="rId6"/>
  </p:sldIdLst>
  <p:sldSz cx="7772400" cy="10058400"/>
  <p:notesSz cx="6950075" cy="9236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01" autoAdjust="0"/>
    <p:restoredTop sz="94660"/>
  </p:normalViewPr>
  <p:slideViewPr>
    <p:cSldViewPr snapToGrid="0">
      <p:cViewPr>
        <p:scale>
          <a:sx n="75" d="100"/>
          <a:sy n="75" d="100"/>
        </p:scale>
        <p:origin x="2016" y="-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1BD59-2D7E-4CC6-9674-82AE207729A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BFED7-F122-49CB-8017-9FCADFC85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76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1BD59-2D7E-4CC6-9674-82AE207729A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BFED7-F122-49CB-8017-9FCADFC85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712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1BD59-2D7E-4CC6-9674-82AE207729A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BFED7-F122-49CB-8017-9FCADFC85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871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1BD59-2D7E-4CC6-9674-82AE207729A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BFED7-F122-49CB-8017-9FCADFC85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6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1BD59-2D7E-4CC6-9674-82AE207729A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BFED7-F122-49CB-8017-9FCADFC85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3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1BD59-2D7E-4CC6-9674-82AE207729A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BFED7-F122-49CB-8017-9FCADFC85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92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1BD59-2D7E-4CC6-9674-82AE207729A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BFED7-F122-49CB-8017-9FCADFC85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3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1BD59-2D7E-4CC6-9674-82AE207729A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BFED7-F122-49CB-8017-9FCADFC85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399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1BD59-2D7E-4CC6-9674-82AE207729A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BFED7-F122-49CB-8017-9FCADFC85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50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1BD59-2D7E-4CC6-9674-82AE207729A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BFED7-F122-49CB-8017-9FCADFC85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842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1BD59-2D7E-4CC6-9674-82AE207729A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BFED7-F122-49CB-8017-9FCADFC85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76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D1BD59-2D7E-4CC6-9674-82AE207729A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DBFED7-F122-49CB-8017-9FCADFC85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12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FE7AB8-72E6-2FD3-9130-B3DB0F87E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4877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420BE7-7E73-8D89-074B-B42839EE6D4E}"/>
              </a:ext>
            </a:extLst>
          </p:cNvPr>
          <p:cNvSpPr txBox="1"/>
          <p:nvPr/>
        </p:nvSpPr>
        <p:spPr>
          <a:xfrm>
            <a:off x="881743" y="7888575"/>
            <a:ext cx="6008914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2000" b="1" dirty="0"/>
              <a:t>Quality criteria (checklist)</a:t>
            </a:r>
            <a:endParaRPr lang="en-US" sz="20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C1</a:t>
            </a:r>
            <a:r>
              <a:rPr lang="en-US" dirty="0"/>
              <a:t> Decision-guiding (not a slogan)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C2</a:t>
            </a:r>
            <a:r>
              <a:rPr lang="en-US" dirty="0"/>
              <a:t> Testable (“we’ll know if we violated it”)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C3</a:t>
            </a:r>
            <a:r>
              <a:rPr lang="en-US" dirty="0"/>
              <a:t> Not implementation-specific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C4</a:t>
            </a:r>
            <a:r>
              <a:rPr lang="en-US" dirty="0"/>
              <a:t> Unambiguous actor/audience (“who must follow it”)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C5</a:t>
            </a:r>
            <a:r>
              <a:rPr lang="en-US" dirty="0"/>
              <a:t> Tradeoff explicit (or no hidden tradeoff)</a:t>
            </a:r>
          </a:p>
        </p:txBody>
      </p:sp>
    </p:spTree>
    <p:extLst>
      <p:ext uri="{BB962C8B-B14F-4D97-AF65-F5344CB8AC3E}">
        <p14:creationId xmlns:p14="http://schemas.microsoft.com/office/powerpoint/2010/main" val="133056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AC82E5-C186-4FA9-AFA4-7AF5F5F413CC}"/>
              </a:ext>
            </a:extLst>
          </p:cNvPr>
          <p:cNvSpPr txBox="1"/>
          <p:nvPr/>
        </p:nvSpPr>
        <p:spPr>
          <a:xfrm>
            <a:off x="-4140064" y="2026085"/>
            <a:ext cx="3886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“FCCPS will </a:t>
            </a:r>
            <a:r>
              <a:rPr lang="en-US" b="1" dirty="0"/>
              <a:t>[do/prioritize X]</a:t>
            </a:r>
            <a:r>
              <a:rPr lang="en-US" dirty="0"/>
              <a:t> to achieve </a:t>
            </a:r>
            <a:r>
              <a:rPr lang="en-US" b="1" dirty="0"/>
              <a:t>[Y]</a:t>
            </a:r>
            <a:r>
              <a:rPr lang="en-US" dirty="0"/>
              <a:t>, so that </a:t>
            </a:r>
            <a:r>
              <a:rPr lang="en-US" b="1" dirty="0"/>
              <a:t>[Z]</a:t>
            </a:r>
            <a:r>
              <a:rPr lang="en-US" dirty="0"/>
              <a:t>.”</a:t>
            </a:r>
          </a:p>
          <a:p>
            <a:r>
              <a:rPr lang="en-US" dirty="0"/>
              <a:t>“When </a:t>
            </a:r>
            <a:r>
              <a:rPr lang="en-US" b="1" dirty="0"/>
              <a:t>X</a:t>
            </a:r>
            <a:r>
              <a:rPr lang="en-US" dirty="0"/>
              <a:t> conflicts with </a:t>
            </a:r>
            <a:r>
              <a:rPr lang="en-US" b="1" dirty="0"/>
              <a:t>Y</a:t>
            </a:r>
            <a:r>
              <a:rPr lang="en-US" dirty="0"/>
              <a:t>, we default to </a:t>
            </a:r>
            <a:r>
              <a:rPr lang="en-US" b="1" dirty="0"/>
              <a:t>X</a:t>
            </a:r>
            <a:r>
              <a:rPr lang="en-US" dirty="0"/>
              <a:t> unless </a:t>
            </a:r>
            <a:r>
              <a:rPr lang="en-US" b="1" dirty="0"/>
              <a:t>[exception]</a:t>
            </a:r>
            <a:r>
              <a:rPr lang="en-US" dirty="0"/>
              <a:t>.”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78E3DB-2D1E-98F3-8CD8-2E32EE14272E}"/>
              </a:ext>
            </a:extLst>
          </p:cNvPr>
          <p:cNvSpPr/>
          <p:nvPr/>
        </p:nvSpPr>
        <p:spPr>
          <a:xfrm>
            <a:off x="0" y="26013"/>
            <a:ext cx="7772400" cy="777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“FCCPS will </a:t>
            </a:r>
            <a:r>
              <a:rPr lang="en-US" sz="4400" b="1" dirty="0">
                <a:solidFill>
                  <a:schemeClr val="tx1"/>
                </a:solidFill>
              </a:rPr>
              <a:t>[do/prioritize X]</a:t>
            </a:r>
            <a:r>
              <a:rPr lang="en-US" sz="4400" dirty="0">
                <a:solidFill>
                  <a:schemeClr val="tx1"/>
                </a:solidFill>
              </a:rPr>
              <a:t> to achieve </a:t>
            </a:r>
            <a:r>
              <a:rPr lang="en-US" sz="4400" b="1" dirty="0">
                <a:solidFill>
                  <a:schemeClr val="tx1"/>
                </a:solidFill>
              </a:rPr>
              <a:t>[Y]</a:t>
            </a:r>
            <a:r>
              <a:rPr lang="en-US" sz="4400" dirty="0">
                <a:solidFill>
                  <a:schemeClr val="tx1"/>
                </a:solidFill>
              </a:rPr>
              <a:t>, so that </a:t>
            </a:r>
            <a:r>
              <a:rPr lang="en-US" sz="4400" b="1" dirty="0">
                <a:solidFill>
                  <a:schemeClr val="tx1"/>
                </a:solidFill>
              </a:rPr>
              <a:t>[Z]</a:t>
            </a:r>
            <a:r>
              <a:rPr lang="en-US" sz="4400" dirty="0">
                <a:solidFill>
                  <a:schemeClr val="tx1"/>
                </a:solidFill>
              </a:rPr>
              <a:t>.”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C9D4F93-ACC9-7E64-F530-42039E1DF4CD}"/>
              </a:ext>
            </a:extLst>
          </p:cNvPr>
          <p:cNvGrpSpPr/>
          <p:nvPr/>
        </p:nvGrpSpPr>
        <p:grpSpPr>
          <a:xfrm>
            <a:off x="0" y="7769944"/>
            <a:ext cx="7772400" cy="0"/>
            <a:chOff x="0" y="7769944"/>
            <a:chExt cx="7772400" cy="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5B53DBA-5AFA-C817-F71E-8A71ED2A5858}"/>
                </a:ext>
              </a:extLst>
            </p:cNvPr>
            <p:cNvCxnSpPr/>
            <p:nvPr/>
          </p:nvCxnSpPr>
          <p:spPr>
            <a:xfrm>
              <a:off x="7454767" y="7769944"/>
              <a:ext cx="317633" cy="0"/>
            </a:xfrm>
            <a:prstGeom prst="line">
              <a:avLst/>
            </a:prstGeom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C6D4D6B-98AE-B452-7AF5-528AEBABBFEE}"/>
                </a:ext>
              </a:extLst>
            </p:cNvPr>
            <p:cNvCxnSpPr/>
            <p:nvPr/>
          </p:nvCxnSpPr>
          <p:spPr>
            <a:xfrm>
              <a:off x="0" y="7769944"/>
              <a:ext cx="317633" cy="0"/>
            </a:xfrm>
            <a:prstGeom prst="line">
              <a:avLst/>
            </a:prstGeom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1605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4F0443-91B3-EA9B-620B-CAFB4D479651}"/>
              </a:ext>
            </a:extLst>
          </p:cNvPr>
          <p:cNvSpPr/>
          <p:nvPr/>
        </p:nvSpPr>
        <p:spPr>
          <a:xfrm>
            <a:off x="0" y="-2456"/>
            <a:ext cx="7772400" cy="777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“When </a:t>
            </a:r>
            <a:r>
              <a:rPr lang="en-US" sz="4400" b="1" dirty="0">
                <a:solidFill>
                  <a:schemeClr val="tx1"/>
                </a:solidFill>
              </a:rPr>
              <a:t>X</a:t>
            </a:r>
            <a:r>
              <a:rPr lang="en-US" sz="4400" dirty="0">
                <a:solidFill>
                  <a:schemeClr val="tx1"/>
                </a:solidFill>
              </a:rPr>
              <a:t> conflicts with </a:t>
            </a:r>
            <a:r>
              <a:rPr lang="en-US" sz="4400" b="1" dirty="0">
                <a:solidFill>
                  <a:schemeClr val="tx1"/>
                </a:solidFill>
              </a:rPr>
              <a:t>Y</a:t>
            </a:r>
            <a:r>
              <a:rPr lang="en-US" sz="4400" dirty="0">
                <a:solidFill>
                  <a:schemeClr val="tx1"/>
                </a:solidFill>
              </a:rPr>
              <a:t>, we default to </a:t>
            </a:r>
            <a:r>
              <a:rPr lang="en-US" sz="4400" b="1" dirty="0">
                <a:solidFill>
                  <a:schemeClr val="tx1"/>
                </a:solidFill>
              </a:rPr>
              <a:t>X</a:t>
            </a:r>
            <a:r>
              <a:rPr lang="en-US" sz="4400" dirty="0">
                <a:solidFill>
                  <a:schemeClr val="tx1"/>
                </a:solidFill>
              </a:rPr>
              <a:t> unless </a:t>
            </a:r>
            <a:r>
              <a:rPr lang="en-US" sz="4400" b="1" dirty="0">
                <a:solidFill>
                  <a:schemeClr val="tx1"/>
                </a:solidFill>
              </a:rPr>
              <a:t>[exception]</a:t>
            </a:r>
            <a:r>
              <a:rPr lang="en-US" sz="4400" dirty="0">
                <a:solidFill>
                  <a:schemeClr val="tx1"/>
                </a:solidFill>
              </a:rPr>
              <a:t>.”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360F7D9-C565-8728-892C-C98C1F258861}"/>
              </a:ext>
            </a:extLst>
          </p:cNvPr>
          <p:cNvGrpSpPr/>
          <p:nvPr/>
        </p:nvGrpSpPr>
        <p:grpSpPr>
          <a:xfrm>
            <a:off x="0" y="7769944"/>
            <a:ext cx="7772400" cy="0"/>
            <a:chOff x="0" y="7769944"/>
            <a:chExt cx="7772400" cy="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CF16F7AC-A632-4DC0-CA72-B4DCE5848EC4}"/>
                </a:ext>
              </a:extLst>
            </p:cNvPr>
            <p:cNvCxnSpPr/>
            <p:nvPr/>
          </p:nvCxnSpPr>
          <p:spPr>
            <a:xfrm>
              <a:off x="7454767" y="7769944"/>
              <a:ext cx="317633" cy="0"/>
            </a:xfrm>
            <a:prstGeom prst="line">
              <a:avLst/>
            </a:prstGeom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1DB5FE6-F73A-EE8E-78C7-54AEB32DDC90}"/>
                </a:ext>
              </a:extLst>
            </p:cNvPr>
            <p:cNvCxnSpPr/>
            <p:nvPr/>
          </p:nvCxnSpPr>
          <p:spPr>
            <a:xfrm>
              <a:off x="0" y="7769944"/>
              <a:ext cx="317633" cy="0"/>
            </a:xfrm>
            <a:prstGeom prst="line">
              <a:avLst/>
            </a:prstGeom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66766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EF941-AEB1-310D-72EE-9CBF84EBA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43785DD-3259-3668-7B6E-E9D12F96605D}"/>
              </a:ext>
            </a:extLst>
          </p:cNvPr>
          <p:cNvSpPr txBox="1"/>
          <p:nvPr/>
        </p:nvSpPr>
        <p:spPr>
          <a:xfrm>
            <a:off x="881743" y="7503855"/>
            <a:ext cx="600891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2000" b="1" dirty="0"/>
              <a:t>Failure-reason tags (optional but very helpful)</a:t>
            </a:r>
            <a:endParaRPr lang="en-US" sz="200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FR1</a:t>
            </a:r>
            <a:r>
              <a:rPr lang="en-US" sz="2000" dirty="0"/>
              <a:t> Too vague</a:t>
            </a:r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FR2</a:t>
            </a:r>
            <a:r>
              <a:rPr lang="en-US" sz="2000" dirty="0"/>
              <a:t> Implementation detail</a:t>
            </a:r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FR3</a:t>
            </a:r>
            <a:r>
              <a:rPr lang="en-US" sz="2000" dirty="0"/>
              <a:t> Not testable</a:t>
            </a:r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FR4</a:t>
            </a:r>
            <a:r>
              <a:rPr lang="en-US" sz="2000" dirty="0"/>
              <a:t> Conflicts with principle {name}</a:t>
            </a:r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FR5</a:t>
            </a:r>
            <a:r>
              <a:rPr lang="en-US" sz="2000" dirty="0"/>
              <a:t> Actor unclear</a:t>
            </a:r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FR6</a:t>
            </a:r>
            <a:r>
              <a:rPr lang="en-US" sz="2000" dirty="0"/>
              <a:t> Needs tradeoff decision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1FB000-38D7-D690-4D9A-6359096EA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48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359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840504A-E78B-BEEF-F80E-E20DD6652B37}"/>
              </a:ext>
            </a:extLst>
          </p:cNvPr>
          <p:cNvSpPr/>
          <p:nvPr/>
        </p:nvSpPr>
        <p:spPr>
          <a:xfrm>
            <a:off x="0" y="0"/>
            <a:ext cx="7772400" cy="148775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Park</a:t>
            </a:r>
            <a:endParaRPr lang="en-US" sz="20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7AFBE8-EEB9-1010-BB5F-F783306BFE37}"/>
              </a:ext>
            </a:extLst>
          </p:cNvPr>
          <p:cNvSpPr txBox="1"/>
          <p:nvPr/>
        </p:nvSpPr>
        <p:spPr>
          <a:xfrm>
            <a:off x="130628" y="1655411"/>
            <a:ext cx="2975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C3E50"/>
                </a:solidFill>
                <a:effectLst/>
              </a:rPr>
              <a:t>Implementation / PD ideas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0D6C36-35AF-DB00-0AA3-5A5A4FFF4B61}"/>
              </a:ext>
            </a:extLst>
          </p:cNvPr>
          <p:cNvSpPr txBox="1"/>
          <p:nvPr/>
        </p:nvSpPr>
        <p:spPr>
          <a:xfrm>
            <a:off x="3882572" y="1655411"/>
            <a:ext cx="3889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C3E50"/>
                </a:solidFill>
                <a:effectLst/>
              </a:rPr>
              <a:t>Open questions (needs staff/legal)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B7842A-433E-E964-EBC4-E0F06B974FDB}"/>
              </a:ext>
            </a:extLst>
          </p:cNvPr>
          <p:cNvSpPr txBox="1"/>
          <p:nvPr/>
        </p:nvSpPr>
        <p:spPr>
          <a:xfrm>
            <a:off x="1937658" y="7796242"/>
            <a:ext cx="3980542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None/>
            </a:pPr>
            <a:r>
              <a:rPr lang="en-US" b="1" dirty="0"/>
              <a:t>Failure-reason tags</a:t>
            </a:r>
            <a:endParaRPr lang="en-US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FR1</a:t>
            </a:r>
            <a:r>
              <a:rPr lang="en-US" dirty="0"/>
              <a:t> Too vague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FR2</a:t>
            </a:r>
            <a:r>
              <a:rPr lang="en-US" dirty="0"/>
              <a:t> Implementation detail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FR3</a:t>
            </a:r>
            <a:r>
              <a:rPr lang="en-US" dirty="0"/>
              <a:t> Not testable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FR4</a:t>
            </a:r>
            <a:r>
              <a:rPr lang="en-US" dirty="0"/>
              <a:t> Conflicts with principle {name}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FR5</a:t>
            </a:r>
            <a:r>
              <a:rPr lang="en-US" dirty="0"/>
              <a:t> Actor unclear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FR6</a:t>
            </a:r>
            <a:r>
              <a:rPr lang="en-US" dirty="0"/>
              <a:t> Needs tradeoff decision</a:t>
            </a:r>
          </a:p>
        </p:txBody>
      </p:sp>
    </p:spTree>
    <p:extLst>
      <p:ext uri="{BB962C8B-B14F-4D97-AF65-F5344CB8AC3E}">
        <p14:creationId xmlns:p14="http://schemas.microsoft.com/office/powerpoint/2010/main" val="2625980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</TotalTime>
  <Words>182</Words>
  <Application>Microsoft Office PowerPoint</Application>
  <PresentationFormat>Custom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Black</dc:creator>
  <cp:lastModifiedBy>John Black</cp:lastModifiedBy>
  <cp:revision>1</cp:revision>
  <cp:lastPrinted>2026-02-16T21:50:52Z</cp:lastPrinted>
  <dcterms:created xsi:type="dcterms:W3CDTF">2026-02-16T19:57:40Z</dcterms:created>
  <dcterms:modified xsi:type="dcterms:W3CDTF">2026-02-16T22:05:30Z</dcterms:modified>
</cp:coreProperties>
</file>